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013" r:id="rId2"/>
    <p:sldId id="2014" r:id="rId3"/>
    <p:sldId id="2087" r:id="rId4"/>
    <p:sldId id="2015" r:id="rId5"/>
    <p:sldId id="2079" r:id="rId6"/>
    <p:sldId id="2080" r:id="rId7"/>
    <p:sldId id="2081" r:id="rId8"/>
    <p:sldId id="2083" r:id="rId9"/>
    <p:sldId id="2084" r:id="rId10"/>
    <p:sldId id="2085" r:id="rId11"/>
    <p:sldId id="2028" r:id="rId12"/>
    <p:sldId id="2030" r:id="rId13"/>
    <p:sldId id="2029" r:id="rId14"/>
    <p:sldId id="2082" r:id="rId15"/>
    <p:sldId id="2086" r:id="rId16"/>
    <p:sldId id="2031" r:id="rId17"/>
    <p:sldId id="2032" r:id="rId18"/>
  </p:sldIdLst>
  <p:sldSz cx="12192000" cy="6858000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19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8" autoAdjust="0"/>
    <p:restoredTop sz="93447" autoAdjust="0"/>
  </p:normalViewPr>
  <p:slideViewPr>
    <p:cSldViewPr snapToGrid="0">
      <p:cViewPr varScale="1">
        <p:scale>
          <a:sx n="112" d="100"/>
          <a:sy n="112" d="100"/>
        </p:scale>
        <p:origin x="47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-2898" y="-114"/>
      </p:cViewPr>
      <p:guideLst>
        <p:guide orient="horz" pos="2932"/>
        <p:guide pos="219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81817-1D6E-405D-8D5C-E276D716F81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C191C-A369-4BD7-9360-8160F79F2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4604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2F2DCA91-7ABB-4C64-96E2-18A23365234E}" type="datetimeFigureOut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193D6290-685B-4F46-AE33-7967D888D01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12115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DDD50-A9E1-49FC-9DDE-190FC52CD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13817-C895-4725-B0C9-F04517A41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2D052-134F-4A26-A2E1-FA8CC7ADF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1">
                <a:solidFill>
                  <a:srgbClr val="C00000"/>
                </a:solidFill>
              </a:defRPr>
            </a:lvl1pPr>
          </a:lstStyle>
          <a:p>
            <a:fld id="{17EC8D9B-C556-4D95-9BD6-71C7EE4AD432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0D8B8-0569-4344-99DD-01BFFAFB4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solidFill>
                  <a:srgbClr val="C00000"/>
                </a:solidFill>
              </a:defRPr>
            </a:lvl1pPr>
          </a:lstStyle>
          <a:p>
            <a:r>
              <a:rPr lang="en-IN"/>
              <a:t>     16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A72AA-E347-4B54-AA19-CEA63BE8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rgbClr val="C00000"/>
                </a:solidFill>
              </a:defRPr>
            </a:lvl1pPr>
          </a:lstStyle>
          <a:p>
            <a:fld id="{1070151E-53C4-402E-B348-6E1F68A001A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537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2EF2-9E03-41F6-B959-42514ADA4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54CA3-AE41-4FBB-987B-583F05FA1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FA536-488F-4B79-A276-4D01692CA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5952-E75C-4509-A491-91A2C9CD2583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40ACF-1A23-4C32-8411-382745BF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     16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5F4F5-46C9-45D7-A891-14813FC23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151E-53C4-402E-B348-6E1F68A001A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24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FD96-1048-40D6-B64E-D0F9EACE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27FD5-F30A-4423-B583-F8DF72F74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A7A8C-35CE-422D-B806-A80395A1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9EB2-5A10-4B8F-A706-50C4CA9DA633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6DCCD-2C9C-4EFD-8962-F426AA138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     16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7A277-E8EB-4C7F-9AB0-D0A5C3A8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151E-53C4-402E-B348-6E1F68A001A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305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5F76-8049-4BB2-861B-5F7729CC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62286-7D6F-46E6-B6B3-1176A6F3F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80855-212D-416F-A64D-839A7852B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5EB7C-2FE8-4A22-8C67-E68030395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31020-CB88-4911-BDB8-4FD3DFEF4D52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F64C0-E279-46D3-AF54-70168EA92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     16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9EBA7-505B-4D4E-A22A-0AAC84EE2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151E-53C4-402E-B348-6E1F68A001A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901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5179-E3AB-4B43-84D3-B32B9AA2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416C3-5677-4A0D-B07E-2B186493F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B8EEE-05D4-47AB-B001-0F13814E2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59E5A0-CF39-4B3F-B959-7F66A209C5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711587-6B52-46AB-BF44-0FB6C0109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75599-D2FF-4CEB-939B-A9F42D044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68F5-3DD6-404E-96B9-F6587D305035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BE21C-9A61-42CF-877D-5B7C4648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     16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5A6C97-6399-4D05-97FE-772310F47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151E-53C4-402E-B348-6E1F68A001A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383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4F0DF-FCB3-47AD-AA0E-937623711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33797-DAD7-439D-A927-3DB187FEA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E6834-F95C-4D13-AFD7-8435E76D7634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5B3A5-086A-4254-ABFD-8A7012CD7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     16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246C8-4C7C-449C-8D0D-37AE643D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151E-53C4-402E-B348-6E1F68A001A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870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9D6005-DA3F-44F0-952F-7BFF9B8E3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2EAAE-19A7-4BEB-BFB6-BA0E510DD78C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A07042-B7A2-4B2E-9F07-D71AC8547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     16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AAC58-AFE4-47DE-9047-4C8BBC36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151E-53C4-402E-B348-6E1F68A001A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546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42711-C60A-43A2-B017-198ABBFFB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0AE64-14E5-4E68-9979-5E16C81FF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96882-A8AF-4E62-AA45-4204BBB66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5585D-DF78-408A-9FCF-DEB21276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FA9B9-02B9-48F0-BF5D-2245C99C0376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98C5C-05B1-4772-B8A3-75C1594E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     16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A84F7-AF24-4ED3-AFA8-187FA72C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151E-53C4-402E-B348-6E1F68A001A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94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1DCE-BB08-4FDB-B469-691998FF3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F6CD6-3A81-4AB4-B692-B6F90F703D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310BD-21AE-4658-B3C7-C9A3C2F49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CC54B-D3FB-4C4F-9BA7-C595C0001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8F4E-BCB7-41CC-ABB9-CF77CBC467C9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0EA94-74DF-4BBE-9F5B-4950740C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     16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4DBD0-AE03-46CB-8674-C1C420506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151E-53C4-402E-B348-6E1F68A001A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3358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AD17-F892-443C-BFF2-66E986AA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C0220-944E-45DF-B863-8C40F8C79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56EBF-4600-4396-B887-AB7C26D89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C1BE9-C12A-4C84-BC5B-F7BFED34690F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6AFA2-E027-4AB5-B0FA-2F29FA8F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     16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5D409-256D-463F-8888-C6B7E00C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151E-53C4-402E-B348-6E1F68A001A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19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08751E-9315-42DC-AB90-3294A90181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2095E-7F01-46C3-ADF8-18814A7D1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AAAE2-6226-4B04-A41E-ABE41C4B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7641-E12A-4087-BDDE-3D35C04C2785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91838-A094-4AC1-866B-A18BCBB9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     16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0C6F5-9710-42CB-8AD5-B660D7E3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0151E-53C4-402E-B348-6E1F68A001A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83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ABB67-1659-4925-9070-4F6BB3F92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879A1-CEE8-4ACB-881F-61629534F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B274E-8580-424A-AE8B-DE78B5AC03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C00000"/>
                </a:solidFill>
              </a:defRPr>
            </a:lvl1pPr>
          </a:lstStyle>
          <a:p>
            <a:fld id="{83E58D01-BBD6-4131-A504-01C57A5C4F76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8B029-0FD7-4B0E-83F6-3F43449E8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C00000"/>
                </a:solidFill>
              </a:defRPr>
            </a:lvl1pPr>
          </a:lstStyle>
          <a:p>
            <a:r>
              <a:rPr lang="en-IN"/>
              <a:t>     16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63BFA-B35E-4945-9AFB-B9FCBEB69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rgbClr val="C00000"/>
                </a:solidFill>
              </a:defRPr>
            </a:lvl1pPr>
          </a:lstStyle>
          <a:p>
            <a:fld id="{1070151E-53C4-402E-B348-6E1F68A001A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1498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7"/>
          <p:cNvSpPr>
            <a:spLocks noChangeArrowheads="1"/>
          </p:cNvSpPr>
          <p:nvPr/>
        </p:nvSpPr>
        <p:spPr bwMode="auto">
          <a:xfrm>
            <a:off x="571500" y="3429000"/>
            <a:ext cx="11093451" cy="250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3500" b="1" dirty="0">
                <a:latin typeface="Times New Roman" pitchFamily="18" charset="0"/>
                <a:cs typeface="Times New Roman" pitchFamily="18" charset="0"/>
              </a:rPr>
              <a:t>Department of</a:t>
            </a:r>
          </a:p>
          <a:p>
            <a:pPr algn="ctr" eaLnBrk="1" hangingPunct="1"/>
            <a:r>
              <a:rPr lang="en-US" altLang="en-US" sz="3500" b="1" dirty="0">
                <a:latin typeface="Times New Roman" pitchFamily="18" charset="0"/>
                <a:cs typeface="Times New Roman" pitchFamily="18" charset="0"/>
              </a:rPr>
              <a:t>Computer Science &amp; Engineering</a:t>
            </a:r>
          </a:p>
          <a:p>
            <a:pPr algn="ctr" eaLnBrk="1" hangingPunct="1"/>
            <a:r>
              <a:rPr lang="en-US" altLang="en-US" sz="35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3500" b="1" dirty="0" err="1">
                <a:latin typeface="Times New Roman" pitchFamily="18" charset="0"/>
                <a:cs typeface="Times New Roman" pitchFamily="18" charset="0"/>
              </a:rPr>
              <a:t>Estd</a:t>
            </a:r>
            <a:r>
              <a:rPr lang="en-US" altLang="en-US" sz="3500" b="1">
                <a:latin typeface="Times New Roman" pitchFamily="18" charset="0"/>
                <a:cs typeface="Times New Roman" pitchFamily="18" charset="0"/>
              </a:rPr>
              <a:t>. 2001)</a:t>
            </a:r>
          </a:p>
          <a:p>
            <a:pPr algn="ctr" eaLnBrk="1" hangingPunct="1"/>
            <a:endParaRPr lang="en-US" altLang="en-US" sz="3200" b="1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/>
            <a:r>
              <a:rPr lang="en-US" altLang="en-US" sz="2000" b="1">
                <a:latin typeface="Times New Roman" pitchFamily="18" charset="0"/>
                <a:cs typeface="Times New Roman" pitchFamily="18" charset="0"/>
              </a:rPr>
              <a:t>Accredited by NBA and NAAC with ‘A’ Grade</a:t>
            </a:r>
          </a:p>
        </p:txBody>
      </p:sp>
      <p:pic>
        <p:nvPicPr>
          <p:cNvPr id="205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5151" y="161925"/>
            <a:ext cx="108712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1" y="1928813"/>
            <a:ext cx="7429500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660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HOD - PROFILE </a:t>
            </a:r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143934" y="573088"/>
            <a:ext cx="11952817" cy="602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Dr. B. </a:t>
            </a:r>
            <a:r>
              <a:rPr lang="en-US" altLang="en-US" b="1" dirty="0" err="1">
                <a:latin typeface="Times New Roman" pitchFamily="18" charset="0"/>
                <a:cs typeface="Times New Roman" pitchFamily="18" charset="0"/>
              </a:rPr>
              <a:t>Rajalakshmi</a:t>
            </a: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eaLnBrk="1" hangingPunct="1"/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B.E (</a:t>
            </a:r>
            <a:r>
              <a:rPr lang="en-US" altLang="en-US" b="1" dirty="0" err="1">
                <a:latin typeface="Times New Roman" pitchFamily="18" charset="0"/>
                <a:cs typeface="Times New Roman" pitchFamily="18" charset="0"/>
              </a:rPr>
              <a:t>Hons</a:t>
            </a: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), M.E, </a:t>
            </a:r>
            <a:r>
              <a:rPr lang="en-US" altLang="en-US" b="1" dirty="0" err="1">
                <a:latin typeface="Times New Roman" pitchFamily="18" charset="0"/>
                <a:cs typeface="Times New Roman" pitchFamily="18" charset="0"/>
              </a:rPr>
              <a:t>Ph.D</a:t>
            </a: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, CICTT</a:t>
            </a:r>
          </a:p>
          <a:p>
            <a:pPr eaLnBrk="1" hangingPunct="1"/>
            <a:endParaRPr lang="en-US" altLang="en-US" sz="1600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Area of Research – Software Engineering</a:t>
            </a:r>
          </a:p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31 years of teaching, research and industrial experience</a:t>
            </a:r>
          </a:p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Published papers in ACM and Microsoft academic journal</a:t>
            </a:r>
          </a:p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Professional membership – CSI, ISTE</a:t>
            </a:r>
          </a:p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Sponsored projects – 15 lakhs from AICTE</a:t>
            </a:r>
          </a:p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BEST HOD award, 2007 for academic excellence</a:t>
            </a:r>
          </a:p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First faculty from India to receive the prestigious “Cambridge International Certification for teachers and trainers” – </a:t>
            </a:r>
          </a:p>
          <a:p>
            <a:pPr algn="just" eaLnBrk="1" hangingPunct="1">
              <a:lnSpc>
                <a:spcPct val="150000"/>
              </a:lnSpc>
              <a:buFont typeface="Arial" pitchFamily="34" charset="0"/>
              <a:buNone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  University of Cambridge, UK, 2009 </a:t>
            </a:r>
          </a:p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BEST paper award, International Conference on cloud computing and services, 2011 </a:t>
            </a:r>
          </a:p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Longest continuous SBC award from Computer Society of India – 2013, 2017, 2018</a:t>
            </a:r>
          </a:p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Best accredited student branch award from Computer Society of India – 2014, 2016, 2017, 2018, 2019</a:t>
            </a:r>
          </a:p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Plenitude of service award - 2015 for the outstanding contribution for more than 15 years during women’s day </a:t>
            </a:r>
          </a:p>
          <a:p>
            <a:pPr algn="just" eaLnBrk="1" hangingPunct="1">
              <a:lnSpc>
                <a:spcPct val="150000"/>
              </a:lnSpc>
              <a:buFont typeface="Arial" pitchFamily="34" charset="0"/>
              <a:buNone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 celebrations, 2015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Distinguished Women Administrator Engineering award – 2015 during women’s day celebrations, 2015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Largest student branch award from Computer Society of  India, 2019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Best participant award from JIT, 2020</a:t>
            </a:r>
          </a:p>
        </p:txBody>
      </p:sp>
      <p:pic>
        <p:nvPicPr>
          <p:cNvPr id="307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47467" y="582613"/>
            <a:ext cx="4089400" cy="264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7D4931-C8F4-479B-9819-DE74A3682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0336" y="145278"/>
            <a:ext cx="2109354" cy="22304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D78CDB-3EC4-4FBF-8B76-20B11B98487B}"/>
              </a:ext>
            </a:extLst>
          </p:cNvPr>
          <p:cNvSpPr txBox="1"/>
          <p:nvPr/>
        </p:nvSpPr>
        <p:spPr>
          <a:xfrm>
            <a:off x="658026" y="495656"/>
            <a:ext cx="74519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HOD-2 Profile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Asha Joseph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sz="1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Rank),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Post Doctoral Fellow-JCU(PDF)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53E89B-310C-4928-8918-BD72550EA03E}"/>
              </a:ext>
            </a:extLst>
          </p:cNvPr>
          <p:cNvSpPr/>
          <p:nvPr/>
        </p:nvSpPr>
        <p:spPr>
          <a:xfrm>
            <a:off x="658027" y="1281869"/>
            <a:ext cx="9750752" cy="52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Area of Research – Operating System Security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28 years of teaching, research and industrial experience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Professional membership – Senior Member IEEE, CSI, Life Member ISTE, Member - National Cyber Safety Security and Standards(of India), Academic Panel Member - Cambridge University Press.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Third Person from all over India to complete </a:t>
            </a:r>
            <a:r>
              <a:rPr lang="en-US" altLang="en-US" sz="1400" dirty="0" err="1">
                <a:latin typeface="Times New Roman" pitchFamily="18" charset="0"/>
                <a:cs typeface="Times New Roman" pitchFamily="18" charset="0"/>
              </a:rPr>
              <a:t>Ph.D</a:t>
            </a: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in the field of “Digital forensics”, Outstanding </a:t>
            </a:r>
            <a:r>
              <a:rPr lang="en-US" altLang="en-US" sz="1400" dirty="0" err="1">
                <a:latin typeface="Times New Roman" pitchFamily="18" charset="0"/>
                <a:cs typeface="Times New Roman" pitchFamily="18" charset="0"/>
              </a:rPr>
              <a:t>Ph.D</a:t>
            </a: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work appreciated by the external examiners, and Patent Granted for the </a:t>
            </a:r>
            <a:r>
              <a:rPr lang="en-US" altLang="en-US" sz="1400" dirty="0" err="1">
                <a:latin typeface="Times New Roman" pitchFamily="18" charset="0"/>
                <a:cs typeface="Times New Roman" pitchFamily="18" charset="0"/>
              </a:rPr>
              <a:t>Ph.D</a:t>
            </a: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work.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Research Expert, Springer Nature - Shift Insight UK, Research Expert, Cambridge University Press, UK.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Research Guide for many </a:t>
            </a:r>
            <a:r>
              <a:rPr lang="en-US" altLang="en-US" sz="1400" dirty="0" err="1">
                <a:latin typeface="Times New Roman" pitchFamily="18" charset="0"/>
                <a:cs typeface="Times New Roman" pitchFamily="18" charset="0"/>
              </a:rPr>
              <a:t>Ph.D</a:t>
            </a: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Scholars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pt-BR" altLang="en-US" sz="1400" dirty="0">
                <a:latin typeface="Times New Roman" pitchFamily="18" charset="0"/>
                <a:cs typeface="Times New Roman" pitchFamily="18" charset="0"/>
              </a:rPr>
              <a:t>IEEE Xtreme16.0, IEEE as Proctor &amp; Ambassador, CodexPro Mentor, IEEE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AICTE as NEAT Expert Committee Member - National Team in the year 2022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BEST paper awards for many International Conferences, Authored several Books and Chapters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Resource person, Invited Speaker and conference chair for many programs and Conferences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Judge for Finastra International </a:t>
            </a:r>
            <a:r>
              <a:rPr lang="en-US" altLang="en-US" sz="1400" dirty="0" err="1">
                <a:latin typeface="Times New Roman" pitchFamily="18" charset="0"/>
                <a:cs typeface="Times New Roman" pitchFamily="18" charset="0"/>
              </a:rPr>
              <a:t>Hackathone</a:t>
            </a: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, London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Reviewer and Editorial board member for many journals and publishing houses.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1400" dirty="0" err="1">
                <a:latin typeface="Times New Roman" pitchFamily="18" charset="0"/>
                <a:cs typeface="Times New Roman" pitchFamily="18" charset="0"/>
              </a:rPr>
              <a:t>Rashtriya</a:t>
            </a: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Vidya Gaurav </a:t>
            </a:r>
            <a:r>
              <a:rPr lang="en-US" altLang="en-US" sz="1400" dirty="0" err="1">
                <a:latin typeface="Times New Roman" pitchFamily="18" charset="0"/>
                <a:cs typeface="Times New Roman" pitchFamily="18" charset="0"/>
              </a:rPr>
              <a:t>Puraskar</a:t>
            </a: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Award, Certificate of Outstanding achievement in the field of Education, 2016., awarded by Indian Solidarity Council, Govt of India , </a:t>
            </a:r>
            <a:r>
              <a:rPr lang="en-US" altLang="en-US" sz="1400" dirty="0" err="1">
                <a:latin typeface="Times New Roman" pitchFamily="18" charset="0"/>
                <a:cs typeface="Times New Roman" pitchFamily="18" charset="0"/>
              </a:rPr>
              <a:t>Rashtrapathi</a:t>
            </a:r>
            <a:r>
              <a:rPr lang="en-US" altLang="en-US" sz="1400" dirty="0">
                <a:latin typeface="Times New Roman" pitchFamily="18" charset="0"/>
                <a:cs typeface="Times New Roman" pitchFamily="18" charset="0"/>
              </a:rPr>
              <a:t> Guide Award in 1991 for Girls Scouts from President of India</a:t>
            </a:r>
          </a:p>
        </p:txBody>
      </p:sp>
    </p:spTree>
    <p:extLst>
      <p:ext uri="{BB962C8B-B14F-4D97-AF65-F5344CB8AC3E}">
        <p14:creationId xmlns:p14="http://schemas.microsoft.com/office/powerpoint/2010/main" val="939354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571500" y="1071563"/>
            <a:ext cx="10871200" cy="4800600"/>
          </a:xfrm>
        </p:spPr>
        <p:txBody>
          <a:bodyPr/>
          <a:lstStyle/>
          <a:p>
            <a:pPr algn="just" eaLnBrk="1" hangingPunct="1"/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B.E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Computer Science &amp; Engineering</a:t>
            </a:r>
          </a:p>
          <a:p>
            <a:pPr algn="just" eaLnBrk="1" hangingPunct="1">
              <a:buFont typeface="Arial" pitchFamily="34" charset="0"/>
              <a:buNone/>
            </a:pP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 eaLnBrk="1" hangingPunct="1"/>
            <a:r>
              <a:rPr lang="en-US" altLang="en-US" sz="1600" b="1" dirty="0" err="1"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- Computer Science &amp; Engineering </a:t>
            </a:r>
          </a:p>
          <a:p>
            <a:pPr algn="just" eaLnBrk="1" hangingPunct="1">
              <a:buFont typeface="Arial" pitchFamily="34" charset="0"/>
              <a:buNone/>
            </a:pPr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b="1" dirty="0" err="1">
                <a:latin typeface="Times New Roman" pitchFamily="18" charset="0"/>
                <a:cs typeface="Times New Roman" pitchFamily="18" charset="0"/>
              </a:rPr>
              <a:t>Ph.D</a:t>
            </a:r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 in Engineering </a:t>
            </a:r>
          </a:p>
        </p:txBody>
      </p:sp>
      <p:sp>
        <p:nvSpPr>
          <p:cNvPr id="4099" name="Title 3"/>
          <p:cNvSpPr>
            <a:spLocks noGrp="1" noChangeArrowheads="1"/>
          </p:cNvSpPr>
          <p:nvPr>
            <p:ph type="title"/>
          </p:nvPr>
        </p:nvSpPr>
        <p:spPr>
          <a:xfrm>
            <a:off x="571500" y="357188"/>
            <a:ext cx="10972800" cy="535531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PROGRAMMES OFFERED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FBAA-3F1C-C7CA-C4B7-6F5F5EEF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31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of the Department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579D5-92C2-5FB5-BCE5-0A64ADB78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440"/>
            <a:ext cx="10515600" cy="4815523"/>
          </a:xfrm>
        </p:spPr>
        <p:txBody>
          <a:bodyPr>
            <a:normAutofit fontScale="25000" lnSpcReduction="20000"/>
          </a:bodyPr>
          <a:lstStyle/>
          <a:p>
            <a:pPr marL="457200" indent="-457200" algn="just">
              <a:lnSpc>
                <a:spcPct val="170000"/>
              </a:lnSpc>
              <a:defRPr/>
            </a:pPr>
            <a:r>
              <a:rPr lang="en-US" altLang="en-US" sz="6400" dirty="0">
                <a:latin typeface="Times New Roman" pitchFamily="18" charset="0"/>
                <a:cs typeface="Times New Roman" pitchFamily="18" charset="0"/>
              </a:rPr>
              <a:t>Faculty development and enrichment programs</a:t>
            </a:r>
          </a:p>
          <a:p>
            <a:pPr marL="457200" indent="-457200" algn="just">
              <a:lnSpc>
                <a:spcPct val="170000"/>
              </a:lnSpc>
              <a:defRPr/>
            </a:pPr>
            <a:r>
              <a:rPr lang="en-US" altLang="en-US" sz="6400" dirty="0">
                <a:latin typeface="Times New Roman" pitchFamily="18" charset="0"/>
                <a:cs typeface="Times New Roman" pitchFamily="18" charset="0"/>
              </a:rPr>
              <a:t>Books published by faculty and ISBN numbers </a:t>
            </a:r>
          </a:p>
          <a:p>
            <a:pPr marL="457200" indent="-457200" algn="just">
              <a:lnSpc>
                <a:spcPct val="170000"/>
              </a:lnSpc>
              <a:defRPr/>
            </a:pPr>
            <a:r>
              <a:rPr lang="en-US" altLang="en-US" sz="6400" dirty="0">
                <a:latin typeface="Times New Roman" pitchFamily="18" charset="0"/>
                <a:cs typeface="Times New Roman" pitchFamily="18" charset="0"/>
              </a:rPr>
              <a:t>Faculty conference and journal publications </a:t>
            </a:r>
          </a:p>
          <a:p>
            <a:pPr marL="457200" indent="-457200" algn="just">
              <a:lnSpc>
                <a:spcPct val="170000"/>
              </a:lnSpc>
              <a:defRPr/>
            </a:pPr>
            <a:r>
              <a:rPr lang="en-US" altLang="en-US" sz="6400" dirty="0">
                <a:latin typeface="Times New Roman" pitchFamily="18" charset="0"/>
                <a:cs typeface="Times New Roman" pitchFamily="18" charset="0"/>
              </a:rPr>
              <a:t>Research grants received by faculty </a:t>
            </a:r>
          </a:p>
          <a:p>
            <a:pPr marL="457200" indent="-457200" algn="just">
              <a:lnSpc>
                <a:spcPct val="170000"/>
              </a:lnSpc>
              <a:defRPr/>
            </a:pPr>
            <a:r>
              <a:rPr lang="en-US" altLang="en-US" sz="6400" dirty="0">
                <a:latin typeface="Times New Roman" pitchFamily="18" charset="0"/>
                <a:cs typeface="Times New Roman" pitchFamily="18" charset="0"/>
              </a:rPr>
              <a:t>Patents filed and received by faculty and students </a:t>
            </a:r>
          </a:p>
          <a:p>
            <a:pPr marL="457200" indent="-457200" algn="just">
              <a:lnSpc>
                <a:spcPct val="170000"/>
              </a:lnSpc>
              <a:defRPr/>
            </a:pPr>
            <a:r>
              <a:rPr lang="en-US" altLang="en-US" sz="6400" dirty="0">
                <a:latin typeface="Times New Roman" pitchFamily="18" charset="0"/>
                <a:cs typeface="Times New Roman" pitchFamily="18" charset="0"/>
              </a:rPr>
              <a:t>Industrial MOU’s signed </a:t>
            </a:r>
          </a:p>
          <a:p>
            <a:pPr marL="457200" indent="-457200" algn="just">
              <a:lnSpc>
                <a:spcPct val="170000"/>
              </a:lnSpc>
              <a:defRPr/>
            </a:pPr>
            <a:r>
              <a:rPr lang="en-US" altLang="en-US" sz="6400" dirty="0">
                <a:latin typeface="Times New Roman" pitchFamily="18" charset="0"/>
                <a:cs typeface="Times New Roman" pitchFamily="18" charset="0"/>
              </a:rPr>
              <a:t>MOOC certification by faculty and students </a:t>
            </a:r>
          </a:p>
          <a:p>
            <a:pPr marL="457200" indent="-457200" algn="just">
              <a:lnSpc>
                <a:spcPct val="170000"/>
              </a:lnSpc>
              <a:defRPr/>
            </a:pPr>
            <a:r>
              <a:rPr lang="en-US" altLang="en-US" sz="6400" dirty="0">
                <a:latin typeface="Times New Roman" pitchFamily="18" charset="0"/>
                <a:cs typeface="Times New Roman" pitchFamily="18" charset="0"/>
              </a:rPr>
              <a:t>International recognition for students </a:t>
            </a:r>
          </a:p>
          <a:p>
            <a:pPr marL="457200" indent="-457200" algn="just">
              <a:lnSpc>
                <a:spcPct val="170000"/>
              </a:lnSpc>
              <a:defRPr/>
            </a:pPr>
            <a:r>
              <a:rPr lang="en-US" altLang="en-US" sz="6400" dirty="0">
                <a:latin typeface="Times New Roman" pitchFamily="18" charset="0"/>
                <a:cs typeface="Times New Roman" pitchFamily="18" charset="0"/>
              </a:rPr>
              <a:t>Industry expert lectures </a:t>
            </a:r>
          </a:p>
          <a:p>
            <a:pPr marL="457200" indent="-457200" algn="just">
              <a:lnSpc>
                <a:spcPct val="170000"/>
              </a:lnSpc>
              <a:defRPr/>
            </a:pPr>
            <a:r>
              <a:rPr lang="en-US" altLang="en-US" sz="6400">
                <a:latin typeface="Times New Roman" pitchFamily="18" charset="0"/>
                <a:cs typeface="Times New Roman" pitchFamily="18" charset="0"/>
              </a:rPr>
              <a:t>Foreign Language </a:t>
            </a:r>
            <a:r>
              <a:rPr lang="en-US" altLang="en-US" sz="6400" dirty="0">
                <a:latin typeface="Times New Roman" pitchFamily="18" charset="0"/>
                <a:cs typeface="Times New Roman" pitchFamily="18" charset="0"/>
              </a:rPr>
              <a:t>Courses and Student Exchange programs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4830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A1203-90B5-9E3C-BC2E-35441EF62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23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of the Department</a:t>
            </a:r>
            <a:endParaRPr lang="en-IN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8C8B3-2C0C-2F33-FE9E-08428A378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480"/>
            <a:ext cx="10515600" cy="4876483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defRPr/>
            </a:pP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Entrepreneurship development programs </a:t>
            </a:r>
          </a:p>
          <a:p>
            <a:pPr marL="457200" indent="-457200" algn="just">
              <a:lnSpc>
                <a:spcPct val="160000"/>
              </a:lnSpc>
              <a:defRPr/>
            </a:pP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Alumni get-together</a:t>
            </a:r>
          </a:p>
          <a:p>
            <a:pPr marL="457200" indent="-457200" algn="just">
              <a:lnSpc>
                <a:spcPct val="160000"/>
              </a:lnSpc>
              <a:defRPr/>
            </a:pP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Project exhibitions / competitions </a:t>
            </a:r>
          </a:p>
          <a:p>
            <a:pPr marL="457200" indent="-457200" algn="just">
              <a:lnSpc>
                <a:spcPct val="160000"/>
              </a:lnSpc>
              <a:defRPr/>
            </a:pPr>
            <a:r>
              <a:rPr lang="en-US" altLang="en-US" sz="1600" dirty="0">
                <a:solidFill>
                  <a:srgbClr val="0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200+ research papers of faculty / students published in Scopus Indexed Journals</a:t>
            </a:r>
            <a:endParaRPr lang="en-IN" altLang="en-US" sz="1600" dirty="0">
              <a:solidFill>
                <a:srgbClr val="0070C0"/>
              </a:solidFill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marL="457200" indent="-457200" algn="just">
              <a:lnSpc>
                <a:spcPct val="160000"/>
              </a:lnSpc>
              <a:defRPr/>
            </a:pPr>
            <a:r>
              <a:rPr lang="en-IN" altLang="en-US" sz="1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Regular Parent Teaching Meeting</a:t>
            </a:r>
          </a:p>
          <a:p>
            <a:pPr marL="457200" indent="-457200" algn="just">
              <a:lnSpc>
                <a:spcPct val="160000"/>
              </a:lnSpc>
              <a:defRPr/>
            </a:pPr>
            <a:r>
              <a:rPr lang="en-IN" altLang="en-US" sz="1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Awareness program on IPR under NIPAM</a:t>
            </a:r>
          </a:p>
          <a:p>
            <a:pPr marL="457200" indent="-457200" algn="just">
              <a:lnSpc>
                <a:spcPct val="160000"/>
              </a:lnSpc>
              <a:defRPr/>
            </a:pPr>
            <a:r>
              <a:rPr lang="en-IN" altLang="en-US" sz="1600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Faculty NPTEL Awards</a:t>
            </a:r>
          </a:p>
          <a:p>
            <a:pPr marL="457200" indent="-457200" algn="just">
              <a:lnSpc>
                <a:spcPct val="150000"/>
              </a:lnSpc>
              <a:defRPr/>
            </a:pP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Highly matured teaching and mentoring environment </a:t>
            </a:r>
          </a:p>
          <a:p>
            <a:pPr marL="457200" indent="-457200" algn="just">
              <a:lnSpc>
                <a:spcPct val="150000"/>
              </a:lnSpc>
              <a:defRPr/>
            </a:pP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Professional society activities 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endParaRPr lang="en-IN" altLang="en-US" sz="1500" dirty="0">
              <a:latin typeface="Times New Roman" pitchFamily="18" charset="0"/>
              <a:ea typeface="Verdana" pitchFamily="34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053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41E7-E5EF-D11E-2FE2-C2CB63E62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55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Events conducted in the Department</a:t>
            </a:r>
            <a:endParaRPr lang="en-IN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B996B-914F-2B76-5691-14F9245D0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960"/>
            <a:ext cx="10515600" cy="4846003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6th National Conference on </a:t>
            </a:r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"Advancements in Computer Science &amp; Engineering," in association with CSI and IIC 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eceived 99 papers across diverse domains such as Machine Learning, Healthcare Applications, Blockchain, NLP, IoT and Quantum Computing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consultancy activities 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Competition</a:t>
            </a:r>
          </a:p>
          <a:p>
            <a:pPr algn="l">
              <a:lnSpc>
                <a:spcPct val="150000"/>
              </a:lnSpc>
            </a:pPr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NHCE-CSI Student Chapter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coding contest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and field visit on problem identification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Motivational talks &amp; Alumni Talks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outreach programs and Industrial Visits</a:t>
            </a:r>
          </a:p>
          <a:p>
            <a:pPr>
              <a:lnSpc>
                <a:spcPct val="150000"/>
              </a:lnSpc>
            </a:pP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Hands-on workshops on emerging technologies like Data Analytics, Advanced database.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369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6A10-045A-741C-26C5-BF488D924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99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Emerging Technology Courses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74879-3679-5EBF-1E86-A6E83C4FB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8880"/>
            <a:ext cx="10515600" cy="497808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and Automation 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Basics of Electric Vehicles 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Internet of Things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Technology 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Cyber Security 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 Technology 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 Energy Sources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and Prompt Engineering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using R Programming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In AI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157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EC00-9F70-D974-F04C-D1EE55729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041"/>
            <a:ext cx="10515600" cy="61976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Certification Based Value Added Courses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E8587-7DCC-BCAA-B256-4318FA7BD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" y="1012700"/>
            <a:ext cx="10515599" cy="565225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0BBBF0-F2F7-87B4-1796-B95E6FFC0337}"/>
              </a:ext>
            </a:extLst>
          </p:cNvPr>
          <p:cNvCxnSpPr>
            <a:cxnSpLocks/>
          </p:cNvCxnSpPr>
          <p:nvPr/>
        </p:nvCxnSpPr>
        <p:spPr>
          <a:xfrm>
            <a:off x="1026160" y="1178560"/>
            <a:ext cx="0" cy="14935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00FFD85-9BAB-3CD8-6C59-76E7755C9797}"/>
              </a:ext>
            </a:extLst>
          </p:cNvPr>
          <p:cNvCxnSpPr/>
          <p:nvPr/>
        </p:nvCxnSpPr>
        <p:spPr>
          <a:xfrm>
            <a:off x="8910320" y="1012700"/>
            <a:ext cx="254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22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83C45EC-9938-84FD-78FD-446A91F95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05" y="365125"/>
            <a:ext cx="10515600" cy="528955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Certification Based Value Added Courses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FEE594-1CDB-4451-611B-09169D53231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842039" y="1148080"/>
            <a:ext cx="10424766" cy="5344795"/>
          </a:xfr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DA9C06-EC79-8785-BA45-376BEB12D408}"/>
              </a:ext>
            </a:extLst>
          </p:cNvPr>
          <p:cNvCxnSpPr>
            <a:cxnSpLocks/>
          </p:cNvCxnSpPr>
          <p:nvPr/>
        </p:nvCxnSpPr>
        <p:spPr>
          <a:xfrm flipV="1">
            <a:off x="842039" y="1056640"/>
            <a:ext cx="10424766" cy="9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E9F10-9FCB-82CA-3B75-2EC73876F1DD}"/>
              </a:ext>
            </a:extLst>
          </p:cNvPr>
          <p:cNvCxnSpPr>
            <a:cxnSpLocks/>
          </p:cNvCxnSpPr>
          <p:nvPr/>
        </p:nvCxnSpPr>
        <p:spPr>
          <a:xfrm>
            <a:off x="11266805" y="1056640"/>
            <a:ext cx="0" cy="543623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34708B-0958-0E09-94E8-29130E30F7B0}"/>
              </a:ext>
            </a:extLst>
          </p:cNvPr>
          <p:cNvCxnSpPr>
            <a:cxnSpLocks/>
          </p:cNvCxnSpPr>
          <p:nvPr/>
        </p:nvCxnSpPr>
        <p:spPr>
          <a:xfrm>
            <a:off x="925194" y="6492875"/>
            <a:ext cx="103416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536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09600" y="1125538"/>
            <a:ext cx="10668000" cy="5275262"/>
          </a:xfrm>
        </p:spPr>
        <p:txBody>
          <a:bodyPr/>
          <a:lstStyle/>
          <a:p>
            <a:pPr algn="just" eaLnBrk="1" hangingPunct="1"/>
            <a:endParaRPr lang="en-US" alt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Each student is assigned to a mentor</a:t>
            </a:r>
          </a:p>
          <a:p>
            <a:pPr algn="just" eaLnBrk="1" hangingPunct="1"/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Mentoring records are maintained and confidentiality is maintained</a:t>
            </a:r>
          </a:p>
          <a:p>
            <a:pPr algn="just" eaLnBrk="1" hangingPunct="1"/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Progress is individually monitored</a:t>
            </a:r>
          </a:p>
          <a:p>
            <a:pPr algn="just" eaLnBrk="1" hangingPunct="1"/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Certified professional counselor</a:t>
            </a:r>
          </a:p>
          <a:p>
            <a:pPr algn="just" eaLnBrk="1" hangingPunct="1"/>
            <a:endParaRPr lang="en-US" alt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endParaRPr lang="en-US" alt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endParaRPr lang="en-US" alt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7" name="Title 3"/>
          <p:cNvSpPr>
            <a:spLocks noGrp="1" noChangeArrowheads="1"/>
          </p:cNvSpPr>
          <p:nvPr>
            <p:ph type="title"/>
          </p:nvPr>
        </p:nvSpPr>
        <p:spPr>
          <a:xfrm>
            <a:off x="609600" y="189435"/>
            <a:ext cx="10972800" cy="535531"/>
          </a:xfrm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Students Mentoring &amp; Other Key Differentiators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09600" y="1268414"/>
            <a:ext cx="10972800" cy="3017837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Arial" pitchFamily="34" charset="0"/>
              <a:buNone/>
            </a:pPr>
            <a:endParaRPr lang="en-US" altLang="en-US" sz="22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BIT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 Club  (Business and Information Technology) </a:t>
            </a:r>
          </a:p>
          <a:p>
            <a:pPr eaLnBrk="1" hangingPunct="1">
              <a:buFont typeface="Arial" pitchFamily="34" charset="0"/>
              <a:buNone/>
            </a:pPr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MAD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 Club  (Mobile Application Development)</a:t>
            </a:r>
          </a:p>
          <a:p>
            <a:pPr marL="0" indent="0" eaLnBrk="1" hangingPunct="1">
              <a:buNone/>
            </a:pPr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sz="1600" b="1" dirty="0" err="1">
                <a:latin typeface="Times New Roman" pitchFamily="18" charset="0"/>
                <a:cs typeface="Times New Roman" pitchFamily="18" charset="0"/>
              </a:rPr>
              <a:t>HealthXL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 Club</a:t>
            </a:r>
          </a:p>
          <a:p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sz="1600" b="1" dirty="0" err="1">
                <a:latin typeface="Times New Roman" pitchFamily="18" charset="0"/>
                <a:cs typeface="Times New Roman" pitchFamily="18" charset="0"/>
              </a:rPr>
              <a:t>TeDeX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 Talks</a:t>
            </a:r>
          </a:p>
          <a:p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sz="1600" b="1" dirty="0" err="1">
                <a:latin typeface="Times New Roman" pitchFamily="18" charset="0"/>
                <a:cs typeface="Times New Roman" pitchFamily="18" charset="0"/>
              </a:rPr>
              <a:t>QuantumX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 Fest</a:t>
            </a:r>
          </a:p>
          <a:p>
            <a:pPr eaLnBrk="1" hangingPunct="1"/>
            <a:endParaRPr lang="en-US" altLang="en-US" sz="22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None/>
            </a:pPr>
            <a:endParaRPr lang="en-US" alt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795" name="Title 3"/>
          <p:cNvSpPr>
            <a:spLocks noGrp="1" noChangeArrowheads="1"/>
          </p:cNvSpPr>
          <p:nvPr>
            <p:ph type="title"/>
          </p:nvPr>
        </p:nvSpPr>
        <p:spPr>
          <a:xfrm>
            <a:off x="609600" y="232651"/>
            <a:ext cx="10972800" cy="535531"/>
          </a:xfrm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Club Activities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1" y="1197735"/>
            <a:ext cx="10668000" cy="5215944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Aptitude training practice  by highly qualified  industry  experts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Soft Skill training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Employability index mapping workshop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Interview facing training programmes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Group discussions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Exclusive CV writing workshop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Comprehensive technical  training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Behavioral and personality development training programs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71" name="Title 3"/>
          <p:cNvSpPr>
            <a:spLocks noGrp="1" noChangeArrowheads="1"/>
          </p:cNvSpPr>
          <p:nvPr>
            <p:ph type="title"/>
          </p:nvPr>
        </p:nvSpPr>
        <p:spPr>
          <a:xfrm>
            <a:off x="273051" y="189765"/>
            <a:ext cx="11341100" cy="535531"/>
          </a:xfrm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Placement Training Through Value-Added Programs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47FB-4354-5BDE-AC84-67A52CFE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520" y="137670"/>
            <a:ext cx="10515600" cy="508635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of our Prestigious Recruiters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1B6E247-B457-030B-57F9-76BE1DBA21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860624"/>
              </p:ext>
            </p:extLst>
          </p:nvPr>
        </p:nvGraphicFramePr>
        <p:xfrm>
          <a:off x="71120" y="646305"/>
          <a:ext cx="12049759" cy="613132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467008495"/>
                    </a:ext>
                  </a:extLst>
                </a:gridCol>
                <a:gridCol w="3271520">
                  <a:extLst>
                    <a:ext uri="{9D8B030D-6E8A-4147-A177-3AD203B41FA5}">
                      <a16:colId xmlns:a16="http://schemas.microsoft.com/office/drawing/2014/main" val="2009593055"/>
                    </a:ext>
                  </a:extLst>
                </a:gridCol>
                <a:gridCol w="2670648">
                  <a:extLst>
                    <a:ext uri="{9D8B030D-6E8A-4147-A177-3AD203B41FA5}">
                      <a16:colId xmlns:a16="http://schemas.microsoft.com/office/drawing/2014/main" val="2720432955"/>
                    </a:ext>
                  </a:extLst>
                </a:gridCol>
                <a:gridCol w="2815751">
                  <a:extLst>
                    <a:ext uri="{9D8B030D-6E8A-4147-A177-3AD203B41FA5}">
                      <a16:colId xmlns:a16="http://schemas.microsoft.com/office/drawing/2014/main" val="315158183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science Co. Ltd (Japanese International Offer)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Crimson Logic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IBM India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Rubrik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029493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Zscalar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IBS Fintech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KPIT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Oracle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86144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 B  </a:t>
                      </a:r>
                    </a:p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(Japanese International Offer)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Epsilon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Carelon Global Solutions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Epicor Software India Pvt Ltd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863004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Nvidia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Musigma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Evertz</a:t>
                      </a: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India Pvt Ltd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Dish Network Technologies India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83057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DE-Shaw &amp; Co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Cinepebble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DXC Technology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Nokia</a:t>
                      </a: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825895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DNP Information System (Japanese International Offer)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Cubic Logic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Tata Consulting Engineers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Whatfix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71476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Vebuin</a:t>
                      </a: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(Japanese International Offer)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 source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Accenture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 Solutions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8402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Pictgram</a:t>
                      </a: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(Japanese International Offer)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Netradyne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ITC Infotech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ESKO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257545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TOYOTA Connected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Tanla</a:t>
                      </a: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Platforms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UST Global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Sirius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10252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Junglee Games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Capgemini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L&amp;T </a:t>
                      </a:r>
                      <a:r>
                        <a:rPr lang="fr-FR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r>
                        <a:rPr lang="fr-FR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Services Ltd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Surya Software Systems </a:t>
                      </a:r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Pvt.Ltd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184825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Xperi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Logic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Cowrks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Computacenter (India) Pvt. Ltd.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140871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Eurofins IT Solutions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Fintellix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Microland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Ernst &amp; Young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90606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Manifest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 </a:t>
                      </a:r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Asyst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Fintellix</a:t>
                      </a: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-Phase 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SAP Labs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35624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Ocwen Financial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Intrainz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Fidelity National Financial India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Societe Generale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68806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Spektra Systems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LG Soft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Accrete Globus Technology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CGI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66875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Western Digital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 Squared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Joveo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Sacha Engineering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63618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Aurigo</a:t>
                      </a: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Software Technologies </a:t>
                      </a:r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Pvt.</a:t>
                      </a: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Ltd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GrayMatter</a:t>
                      </a: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Software Services Pvt Ltd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Smarsh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LTI </a:t>
                      </a:r>
                      <a:r>
                        <a:rPr lang="en-IN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MindTree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08" marR="6208" marT="6208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3542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188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2FAE0-A282-46C9-9385-EAB39291E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8955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Placement Status of 2025 Batch students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7BE35F-7D03-9E0D-2DBE-4DB7D520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570690"/>
              </p:ext>
            </p:extLst>
          </p:nvPr>
        </p:nvGraphicFramePr>
        <p:xfrm>
          <a:off x="1483360" y="1351280"/>
          <a:ext cx="8178800" cy="467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3327360187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63162988"/>
                    </a:ext>
                  </a:extLst>
                </a:gridCol>
              </a:tblGrid>
              <a:tr h="794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number of students opted for placement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267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5741246"/>
                  </a:ext>
                </a:extLst>
              </a:tr>
              <a:tr h="72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number of offers		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7368466"/>
                  </a:ext>
                </a:extLst>
              </a:tr>
              <a:tr h="735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students placed		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68079311"/>
                  </a:ext>
                </a:extLst>
              </a:tr>
              <a:tr h="7844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International Offers		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976171"/>
                  </a:ext>
                </a:extLst>
              </a:tr>
              <a:tr h="818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students yet to be placed		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7161056"/>
                  </a:ext>
                </a:extLst>
              </a:tr>
              <a:tr h="818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Placement percentage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78.27 %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593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130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10668000" cy="5257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Alumni Meets</a:t>
            </a:r>
          </a:p>
          <a:p>
            <a:pPr algn="just" eaLnBrk="1" hangingPunct="1">
              <a:buNone/>
            </a:pPr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Alumni as jury for competitions and Hackathons </a:t>
            </a:r>
          </a:p>
          <a:p>
            <a:pPr algn="just" eaLnBrk="1" hangingPunct="1"/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Alumni interaction with students</a:t>
            </a:r>
          </a:p>
          <a:p>
            <a:pPr algn="just" eaLnBrk="1" hangingPunct="1"/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Alumni involvement in placements</a:t>
            </a:r>
          </a:p>
          <a:p>
            <a:pPr algn="just" eaLnBrk="1" hangingPunct="1"/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Alumni Contribution in </a:t>
            </a:r>
            <a:r>
              <a:rPr lang="en-US" altLang="en-US" sz="1600" dirty="0" err="1">
                <a:latin typeface="Times New Roman" pitchFamily="18" charset="0"/>
                <a:cs typeface="Times New Roman" pitchFamily="18" charset="0"/>
              </a:rPr>
              <a:t>BoS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algn="just" eaLnBrk="1" hangingPunct="1">
              <a:buNone/>
            </a:pPr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Motivational Talks by Alumni </a:t>
            </a:r>
          </a:p>
          <a:p>
            <a:pPr algn="just" eaLnBrk="1" hangingPunct="1"/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Career Guidance Talks by Alumni</a:t>
            </a:r>
          </a:p>
          <a:p>
            <a:pPr marL="0" indent="0" algn="just" eaLnBrk="1" hangingPunct="1">
              <a:buNone/>
            </a:pPr>
            <a:endParaRPr lang="en-US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819" name="Title 3"/>
          <p:cNvSpPr>
            <a:spLocks noGrp="1" noChangeArrowheads="1"/>
          </p:cNvSpPr>
          <p:nvPr>
            <p:ph type="title"/>
          </p:nvPr>
        </p:nvSpPr>
        <p:spPr>
          <a:xfrm>
            <a:off x="609600" y="277101"/>
            <a:ext cx="10972800" cy="535531"/>
          </a:xfrm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Alumni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10668000" cy="4800600"/>
          </a:xfrm>
        </p:spPr>
        <p:txBody>
          <a:bodyPr/>
          <a:lstStyle/>
          <a:p>
            <a:pPr algn="just"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For  more information, please contact</a:t>
            </a:r>
          </a:p>
          <a:p>
            <a:pPr marL="0" indent="0" algn="just" eaLnBrk="1" hangingPunct="1">
              <a:buNone/>
            </a:pPr>
            <a:endParaRPr lang="en-US" alt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Phone: 080-66297777</a:t>
            </a:r>
          </a:p>
          <a:p>
            <a:pPr algn="just" eaLnBrk="1" hangingPunct="1">
              <a:buFont typeface="Arial" pitchFamily="34" charset="0"/>
              <a:buNone/>
            </a:pPr>
            <a:endParaRPr lang="en-US" alt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E mail: admissionsnhce@newhorizonindia.edu </a:t>
            </a:r>
          </a:p>
          <a:p>
            <a:pPr algn="just" eaLnBrk="1" hangingPunct="1">
              <a:buFont typeface="Arial" pitchFamily="34" charset="0"/>
              <a:buNone/>
            </a:pPr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     </a:t>
            </a:r>
          </a:p>
          <a:p>
            <a:pPr algn="just"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Website:  www.newhorizonindia.edu</a:t>
            </a:r>
          </a:p>
          <a:p>
            <a:pPr marL="0" indent="0" algn="just" eaLnBrk="1" hangingPunct="1">
              <a:buNone/>
            </a:pPr>
            <a:endParaRPr lang="en-US" alt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Follow us on:</a:t>
            </a:r>
          </a:p>
          <a:p>
            <a:pPr algn="just" eaLnBrk="1" hangingPunct="1"/>
            <a:endParaRPr lang="en-US" alt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hangingPunct="1">
              <a:buNone/>
            </a:pPr>
            <a:endParaRPr lang="en-US" alt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endParaRPr lang="en-US" alt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hangingPunct="1">
              <a:buNone/>
            </a:pPr>
            <a:endParaRPr lang="en-US" alt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hangingPunct="1">
              <a:buNone/>
            </a:pPr>
            <a:endParaRPr lang="en-US" alt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endParaRPr lang="en-US" alt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endParaRPr lang="en-US" alt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843" name="Title 3"/>
          <p:cNvSpPr>
            <a:spLocks noGrp="1" noChangeArrowheads="1"/>
          </p:cNvSpPr>
          <p:nvPr>
            <p:ph type="title"/>
          </p:nvPr>
        </p:nvSpPr>
        <p:spPr>
          <a:xfrm>
            <a:off x="381000" y="281125"/>
            <a:ext cx="11430000" cy="535531"/>
          </a:xfrm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THANK  YOU</a:t>
            </a:r>
          </a:p>
        </p:txBody>
      </p:sp>
      <p:pic>
        <p:nvPicPr>
          <p:cNvPr id="3584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8754" y="4894910"/>
            <a:ext cx="815805" cy="54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16816" y="4894910"/>
            <a:ext cx="815805" cy="54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6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16003" y="4894910"/>
            <a:ext cx="1479997" cy="54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6BE428-BAB1-8765-75EE-71BB898654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0" y="4832997"/>
            <a:ext cx="976004" cy="6737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6495</TotalTime>
  <Words>1117</Words>
  <Application>Microsoft Office PowerPoint</Application>
  <PresentationFormat>Widescreen</PresentationFormat>
  <Paragraphs>244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HOD - PROFILE </vt:lpstr>
      <vt:lpstr>PowerPoint Presentation</vt:lpstr>
      <vt:lpstr>PROGRAMMES OFFERED</vt:lpstr>
      <vt:lpstr>Strengths of the Department</vt:lpstr>
      <vt:lpstr>Strengths of the Department</vt:lpstr>
      <vt:lpstr>Events conducted in the Department</vt:lpstr>
      <vt:lpstr>Emerging Technology Courses </vt:lpstr>
      <vt:lpstr>Industry Certification Based Value Added Courses</vt:lpstr>
      <vt:lpstr>Industry Certification Based Value Added Courses</vt:lpstr>
      <vt:lpstr>Students Mentoring &amp; Other Key Differentiators</vt:lpstr>
      <vt:lpstr>Club Activities</vt:lpstr>
      <vt:lpstr>Placement Training Through Value-Added Programs</vt:lpstr>
      <vt:lpstr>List of our Prestigious Recruiters </vt:lpstr>
      <vt:lpstr>Placement Status of 2025 Batch students</vt:lpstr>
      <vt:lpstr>Alumni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Dinesh Jothiram</dc:creator>
  <cp:lastModifiedBy>Dr. Asha Joseph</cp:lastModifiedBy>
  <cp:revision>864</cp:revision>
  <cp:lastPrinted>2022-03-16T10:07:05Z</cp:lastPrinted>
  <dcterms:created xsi:type="dcterms:W3CDTF">2022-01-11T08:08:04Z</dcterms:created>
  <dcterms:modified xsi:type="dcterms:W3CDTF">2026-01-13T04:46:44Z</dcterms:modified>
</cp:coreProperties>
</file>